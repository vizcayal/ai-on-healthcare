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6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AF62F-6A94-4299-8951-25868E51C7F7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F1343-D238-476A-9D96-C1093712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F1343-D238-476A-9D96-C109371291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88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61D7-8509-779C-8CFD-032FEF967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3A692-F265-4BF6-2DA8-7C0E56D87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65055-B0D7-7B03-0859-F1090A7F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25FFC-22A4-02CF-8E37-EC985F7C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00F3D-30E0-7D0A-75B3-0F64C55F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2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E343-C804-B771-7B20-AFC1150D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E242-3F9C-FC83-0D03-B182B895C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4D5D6-CD51-0515-5F68-C90DC18DD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7A479-AC5E-D33E-4C89-15056894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F4FD7-D20E-7F98-E886-B9D71E7F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0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5D2E-25CC-8FAD-FFE8-09C34D718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AC7B2-4E26-7030-4014-AA960DB25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58662-D765-B5EB-300F-CBD8A8FD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BE06-A609-1CB2-900C-830DE2AF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FD30C-A5A7-4B37-E3D0-3810AF83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5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A6AD6-044D-E2ED-76BC-C8A493A6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74EDE-045D-1D07-EA7D-E2D1A281E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5E2CB-5AE3-DDD4-59FD-217619A19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5D6BF-E7A5-4A97-0D5A-DE5EE5A8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F4507-247D-D966-9DBD-B07C1B70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1E3A-C975-1FDA-ECE5-0EF1AAB8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2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4699-EBE4-3404-4849-08A89AD6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7DF20-8430-E4E9-B5BD-38BE61CE0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75418-BBD5-8DC8-6888-B36BE9EAA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45A75-2B41-0CE1-3DC0-174118E3C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76B893-C55D-DB84-BF11-DE444ABAF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E023-72E4-C6EF-3725-611BB834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02A63-7716-43A0-932C-6A124CF1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511FF-E6C5-2B7F-E610-0812E164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4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9FB7-5485-6B0C-DF44-0A32C4C4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3D003-6161-255D-444A-C95D5C78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A9F85-29E0-0AD8-58A9-22FAFB17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D44D4-2630-2FD1-6579-BDEE115D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1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7A75C-CCC1-2E7D-9B60-1E87D0C2C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44ADA7-0F4A-C873-6537-8B34CBC2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18831-5FD4-A56D-71D0-B446F020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4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F9EA-7F34-83EB-C510-61D0572B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189B-2ADB-8B51-5BF7-D3822CA21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5796F-CDF5-207E-2B2F-DCB428B53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1A37D-8B69-71E9-9ADA-9D99ECE8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44E4-34F5-29FE-16A7-8C0EEC43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ED2BC-9C5A-85F7-8FAF-7EDE1406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9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DEF6-55F0-81B5-E012-58702685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A6C56-9CC4-F8DE-D68E-C74A5BA95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C27E2-C4F1-3AB4-0755-7846E3B49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7EFBB-A696-72ED-2BAB-9A3B5285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601FE-3834-76EC-7A35-3FB35A4B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6034E-3574-ABCE-47D4-9B83358B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7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0713-B8E3-89E1-53A2-602EED8A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4C846-2372-421D-C290-6F0A3C373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B192-2755-D59E-2B26-58839DCC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064EB-F709-0DA6-6237-9284C00E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C3D7B-FF80-7F65-AA3C-BB2E51B6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9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48FDF9-13D7-64B3-197F-4786BEB0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5131C-3CA8-C598-9627-41CD801D3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59349-6AC5-DF68-A091-C010718A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61BD3-A278-4017-1989-8C71E8FA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5AC39-70CF-877B-66AD-243AB77F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3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634BF-A4EC-7B79-A7C9-8E2CC4DF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AB0F5-6FA1-D1B3-BE62-0DB2F4113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65946-7FC0-4CD7-C958-4D2CBB71C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C9A10-F7FD-40E9-84B7-5374F72EF76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E3E49-2492-4F92-910E-C0686D657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F918B-A2A9-49D2-02FD-3D7258B90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71C55-E5EE-4A94-9DA5-DA519515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D4E0B-E75A-636C-556E-5AEE32D106E1}"/>
              </a:ext>
            </a:extLst>
          </p:cNvPr>
          <p:cNvSpPr txBox="1"/>
          <p:nvPr/>
        </p:nvSpPr>
        <p:spPr>
          <a:xfrm>
            <a:off x="1888672" y="2351782"/>
            <a:ext cx="84146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MIMIC Database Exploratory Data Analysis Graphs and General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98221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EEF7FB-6978-1487-1892-E45771779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99" y="987567"/>
            <a:ext cx="8079909" cy="44805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4DFB22-3CBF-1B8F-B445-8F285B2711D7}"/>
              </a:ext>
            </a:extLst>
          </p:cNvPr>
          <p:cNvSpPr txBox="1"/>
          <p:nvPr/>
        </p:nvSpPr>
        <p:spPr>
          <a:xfrm>
            <a:off x="8293608" y="694959"/>
            <a:ext cx="3906774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lvl="1">
              <a:lnSpc>
                <a:spcPts val="1425"/>
              </a:lnSpc>
            </a:pPr>
            <a:r>
              <a:rPr lang="en-US" dirty="0">
                <a:latin typeface="Consolas" panose="020B0609020204030204" pitchFamily="49" charset="0"/>
              </a:rPr>
              <a:t>	Instructions</a:t>
            </a:r>
          </a:p>
          <a:p>
            <a:pPr lvl="1">
              <a:lnSpc>
                <a:spcPts val="1425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Group patient and admissions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Made using seaborn an matplotlib.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b="0" dirty="0">
                <a:effectLst/>
                <a:latin typeface="Consolas" panose="020B0609020204030204" pitchFamily="49" charset="0"/>
              </a:rPr>
              <a:t>Create figure and axis using clear background.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b="0" dirty="0">
                <a:effectLst/>
                <a:latin typeface="Consolas" panose="020B0609020204030204" pitchFamily="49" charset="0"/>
              </a:rPr>
              <a:t>Use </a:t>
            </a:r>
            <a:r>
              <a:rPr lang="en-US" b="0" i="1" dirty="0" err="1">
                <a:effectLst/>
                <a:latin typeface="Consolas" panose="020B0609020204030204" pitchFamily="49" charset="0"/>
              </a:rPr>
              <a:t>sns</a:t>
            </a:r>
            <a:r>
              <a:rPr lang="en-US" i="1" dirty="0">
                <a:latin typeface="Consolas" panose="020B0609020204030204" pitchFamily="49" charset="0"/>
              </a:rPr>
              <a:t> </a:t>
            </a:r>
            <a:r>
              <a:rPr lang="en-US" b="0" i="1" dirty="0" err="1">
                <a:effectLst/>
                <a:latin typeface="Consolas" panose="020B0609020204030204" pitchFamily="49" charset="0"/>
              </a:rPr>
              <a:t>swarmplot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 to build the graph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5. </a:t>
            </a:r>
            <a:r>
              <a:rPr lang="en-US" b="0" dirty="0">
                <a:effectLst/>
                <a:latin typeface="Consolas" panose="020B0609020204030204" pitchFamily="49" charset="0"/>
              </a:rPr>
              <a:t>Calculate the age median for gender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6. D</a:t>
            </a:r>
            <a:r>
              <a:rPr lang="en-US" b="0" dirty="0">
                <a:effectLst/>
                <a:latin typeface="Consolas" panose="020B0609020204030204" pitchFamily="49" charset="0"/>
              </a:rPr>
              <a:t>raw a vertical dashed line at the median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7. Add a title.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146CD-686F-C9E9-B80D-8010D244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5536919"/>
            <a:ext cx="8266176" cy="85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3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07C5E5-323B-FA58-F58D-8FB71362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17" y="358950"/>
            <a:ext cx="7885209" cy="43436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425230-D9F0-4588-506B-828F435F9467}"/>
              </a:ext>
            </a:extLst>
          </p:cNvPr>
          <p:cNvSpPr txBox="1"/>
          <p:nvPr/>
        </p:nvSpPr>
        <p:spPr>
          <a:xfrm>
            <a:off x="8285226" y="358950"/>
            <a:ext cx="3906774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lvl="1">
              <a:lnSpc>
                <a:spcPts val="1425"/>
              </a:lnSpc>
            </a:pPr>
            <a:r>
              <a:rPr lang="en-US" dirty="0">
                <a:latin typeface="Consolas" panose="020B0609020204030204" pitchFamily="49" charset="0"/>
              </a:rPr>
              <a:t>	Instructions</a:t>
            </a:r>
          </a:p>
          <a:p>
            <a:pPr lvl="1">
              <a:lnSpc>
                <a:spcPts val="1425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Group admissions and discharge location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Make a unique label list and map each source- target.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Build the Sankey figure using graph objects on </a:t>
            </a:r>
            <a:r>
              <a:rPr lang="en-US" dirty="0" err="1">
                <a:latin typeface="Consolas" panose="020B0609020204030204" pitchFamily="49" charset="0"/>
              </a:rPr>
              <a:t>plotly</a:t>
            </a:r>
            <a:r>
              <a:rPr lang="en-US" dirty="0">
                <a:latin typeface="Consolas" panose="020B0609020204030204" pitchFamily="49" charset="0"/>
              </a:rPr>
              <a:t>. With source and target.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Add a title Admission Location -&gt; </a:t>
            </a:r>
            <a:r>
              <a:rPr lang="en-US" dirty="0" err="1">
                <a:latin typeface="Consolas" panose="020B0609020204030204" pitchFamily="49" charset="0"/>
              </a:rPr>
              <a:t>Dischage</a:t>
            </a:r>
            <a:r>
              <a:rPr lang="en-US" dirty="0">
                <a:latin typeface="Consolas" panose="020B0609020204030204" pitchFamily="49" charset="0"/>
              </a:rPr>
              <a:t> Destination.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5324F-22D0-62F5-4B2D-5EAC50368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17" y="4702629"/>
            <a:ext cx="6599497" cy="215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5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6031-BF9B-10F6-09F0-7C21B375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B8E3E-219D-C1D1-46E4-52F4226C8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27" y="644652"/>
            <a:ext cx="7896385" cy="48090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1EF062-791C-8BD7-29AB-A0EBAA1E775F}"/>
              </a:ext>
            </a:extLst>
          </p:cNvPr>
          <p:cNvSpPr txBox="1"/>
          <p:nvPr/>
        </p:nvSpPr>
        <p:spPr>
          <a:xfrm>
            <a:off x="8293608" y="1289304"/>
            <a:ext cx="3906774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lvl="1">
              <a:lnSpc>
                <a:spcPts val="1425"/>
              </a:lnSpc>
            </a:pPr>
            <a:r>
              <a:rPr lang="en-US" dirty="0">
                <a:latin typeface="Consolas" panose="020B0609020204030204" pitchFamily="49" charset="0"/>
              </a:rPr>
              <a:t>	Instructions</a:t>
            </a:r>
          </a:p>
          <a:p>
            <a:pPr lvl="1">
              <a:lnSpc>
                <a:spcPts val="1425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Group insurance and admission type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Add a root level “All admissions”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Using </a:t>
            </a:r>
            <a:r>
              <a:rPr lang="en-US" dirty="0" err="1">
                <a:latin typeface="Consolas" panose="020B0609020204030204" pitchFamily="49" charset="0"/>
              </a:rPr>
              <a:t>plotly.express</a:t>
            </a:r>
            <a:r>
              <a:rPr lang="en-US" dirty="0">
                <a:latin typeface="Consolas" panose="020B0609020204030204" pitchFamily="49" charset="0"/>
              </a:rPr>
              <a:t> build the </a:t>
            </a:r>
            <a:r>
              <a:rPr lang="en-US" dirty="0" err="1">
                <a:latin typeface="Consolas" panose="020B0609020204030204" pitchFamily="49" charset="0"/>
              </a:rPr>
              <a:t>treemap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Root-&gt;insurance-&gt;admission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Add a title Admission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24872-6F08-7401-6C8C-9B3ED81E8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2" y="5453743"/>
            <a:ext cx="10994571" cy="109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1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19D54-EA09-6669-E888-DA478EF2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25032-AE5D-424B-E87C-B2496B64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4" y="629131"/>
            <a:ext cx="7744968" cy="47701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B32DA6-6CB5-1EBA-8707-595BC2804BA0}"/>
              </a:ext>
            </a:extLst>
          </p:cNvPr>
          <p:cNvSpPr txBox="1"/>
          <p:nvPr/>
        </p:nvSpPr>
        <p:spPr>
          <a:xfrm>
            <a:off x="8184751" y="629131"/>
            <a:ext cx="3906774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lvl="1">
              <a:lnSpc>
                <a:spcPts val="1425"/>
              </a:lnSpc>
            </a:pPr>
            <a:r>
              <a:rPr lang="en-US" dirty="0">
                <a:latin typeface="Consolas" panose="020B0609020204030204" pitchFamily="49" charset="0"/>
              </a:rPr>
              <a:t>	Instructions</a:t>
            </a:r>
          </a:p>
          <a:p>
            <a:pPr lvl="1">
              <a:lnSpc>
                <a:spcPts val="1425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Using length of stay drop 5% outliers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Create a </a:t>
            </a:r>
            <a:r>
              <a:rPr lang="en-US" dirty="0" err="1">
                <a:latin typeface="Consolas" panose="020B0609020204030204" pitchFamily="49" charset="0"/>
              </a:rPr>
              <a:t>sns</a:t>
            </a:r>
            <a:r>
              <a:rPr lang="en-US" dirty="0">
                <a:latin typeface="Consolas" panose="020B0609020204030204" pitchFamily="49" charset="0"/>
              </a:rPr>
              <a:t> density contour plot (</a:t>
            </a:r>
            <a:r>
              <a:rPr lang="en-US" dirty="0" err="1">
                <a:latin typeface="Consolas" panose="020B0609020204030204" pitchFamily="49" charset="0"/>
              </a:rPr>
              <a:t>kdeplot</a:t>
            </a:r>
            <a:r>
              <a:rPr lang="en-US" dirty="0">
                <a:latin typeface="Consolas" panose="020B0609020204030204" pitchFamily="49" charset="0"/>
              </a:rPr>
              <a:t> in </a:t>
            </a:r>
            <a:r>
              <a:rPr lang="en-US" dirty="0" err="1">
                <a:latin typeface="Consolas" panose="020B0609020204030204" pitchFamily="49" charset="0"/>
              </a:rPr>
              <a:t>sns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Scatter points on </a:t>
            </a:r>
            <a:r>
              <a:rPr lang="en-US" dirty="0" err="1">
                <a:latin typeface="Consolas" panose="020B0609020204030204" pitchFamily="49" charset="0"/>
              </a:rPr>
              <a:t>pyplot</a:t>
            </a:r>
            <a:r>
              <a:rPr lang="en-US" dirty="0">
                <a:latin typeface="Consolas" panose="020B0609020204030204" pitchFamily="49" charset="0"/>
              </a:rPr>
              <a:t> axis (age vs length of stay)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Calculate median and plot it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Add title Age vs Length of Stay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AA373-B6E5-6E8A-F025-59A5D7A2D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68"/>
          <a:stretch>
            <a:fillRect/>
          </a:stretch>
        </p:blipFill>
        <p:spPr>
          <a:xfrm>
            <a:off x="936170" y="5399314"/>
            <a:ext cx="5802087" cy="145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1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FE90-F41E-2CA6-5D2E-1DA0BF89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0DF303-7A4E-CF4C-FC1E-B5AE79E25FB5}"/>
              </a:ext>
            </a:extLst>
          </p:cNvPr>
          <p:cNvSpPr txBox="1"/>
          <p:nvPr/>
        </p:nvSpPr>
        <p:spPr>
          <a:xfrm>
            <a:off x="7847294" y="413658"/>
            <a:ext cx="3906774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lvl="1">
              <a:lnSpc>
                <a:spcPts val="1425"/>
              </a:lnSpc>
            </a:pPr>
            <a:r>
              <a:rPr lang="en-US" dirty="0">
                <a:latin typeface="Consolas" panose="020B0609020204030204" pitchFamily="49" charset="0"/>
              </a:rPr>
              <a:t>	Instructions</a:t>
            </a:r>
          </a:p>
          <a:p>
            <a:pPr lvl="1">
              <a:lnSpc>
                <a:spcPts val="1425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Group race </a:t>
            </a:r>
            <a:r>
              <a:rPr lang="en-US" dirty="0" err="1">
                <a:latin typeface="Consolas" panose="020B0609020204030204" pitchFamily="49" charset="0"/>
              </a:rPr>
              <a:t>cathegories</a:t>
            </a:r>
            <a:r>
              <a:rPr lang="en-US" dirty="0">
                <a:latin typeface="Consolas" panose="020B0609020204030204" pitchFamily="49" charset="0"/>
              </a:rPr>
              <a:t> into broader group to make the graph cleaner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This graph uses the </a:t>
            </a:r>
            <a:r>
              <a:rPr lang="en-US" dirty="0" err="1">
                <a:latin typeface="Consolas" panose="020B0609020204030204" pitchFamily="49" charset="0"/>
              </a:rPr>
              <a:t>holoview</a:t>
            </a:r>
            <a:r>
              <a:rPr lang="en-US" dirty="0">
                <a:latin typeface="Consolas" panose="020B0609020204030204" pitchFamily="49" charset="0"/>
              </a:rPr>
              <a:t> library.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Map race group to insurance feature and count them.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Build the </a:t>
            </a:r>
            <a:r>
              <a:rPr lang="en-US" dirty="0" err="1">
                <a:latin typeface="Consolas" panose="020B0609020204030204" pitchFamily="49" charset="0"/>
              </a:rPr>
              <a:t>braph</a:t>
            </a:r>
            <a:r>
              <a:rPr lang="en-US" dirty="0">
                <a:latin typeface="Consolas" panose="020B0609020204030204" pitchFamily="49" charset="0"/>
              </a:rPr>
              <a:t> using </a:t>
            </a:r>
            <a:r>
              <a:rPr lang="en-US" dirty="0" err="1">
                <a:latin typeface="Consolas" panose="020B0609020204030204" pitchFamily="49" charset="0"/>
              </a:rPr>
              <a:t>holoview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Add a title.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C2F0A-E513-DC56-FEB7-83CCA418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10" y="413658"/>
            <a:ext cx="5039533" cy="4836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C49432-C1F0-6369-24C6-A5072A3A6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39" y="5083752"/>
            <a:ext cx="11255829" cy="177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4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221</Words>
  <Application>Microsoft Office PowerPoint</Application>
  <PresentationFormat>Widescreen</PresentationFormat>
  <Paragraphs>60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Wood Mackenzie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Vizcaya, Luis</dc:creator>
  <cp:lastModifiedBy>Vizcaya, Luis</cp:lastModifiedBy>
  <cp:revision>4</cp:revision>
  <dcterms:created xsi:type="dcterms:W3CDTF">2026-06-19T15:32:20Z</dcterms:created>
  <dcterms:modified xsi:type="dcterms:W3CDTF">2026-06-23T00:51:24Z</dcterms:modified>
</cp:coreProperties>
</file>