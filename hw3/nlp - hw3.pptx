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0" r:id="rId4"/>
    <p:sldId id="264" r:id="rId5"/>
    <p:sldId id="257" r:id="rId6"/>
    <p:sldId id="261" r:id="rId7"/>
    <p:sldId id="265" r:id="rId8"/>
    <p:sldId id="258" r:id="rId9"/>
    <p:sldId id="262" r:id="rId10"/>
    <p:sldId id="266" r:id="rId11"/>
    <p:sldId id="25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88E4-B8F7-F628-AFE3-E9FF68E94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8AA6D-B018-C312-B688-B238DAF18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4D6BF-6273-E061-1EF2-C88947A9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4E780-A9B3-B4D5-3630-8EEB575A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5DA8F-F21F-1663-5D53-B5F52F2A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9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91BD-BABD-14DF-EE60-382E58E3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56132-5B52-2E4B-5026-E10BCAAFF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881AD-01A8-CD68-6669-8F68DC504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44FC5-57C3-1CE6-13A9-6133992B4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07F6E-7704-967F-0364-E654DA7F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3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9FFD-C17B-6643-E27C-D01CB7FCC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89775-958A-9C73-E7F9-1E6F7F712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CA74-E1F9-8C8E-12A7-D26E88885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A3B7-0AAD-9547-273A-5E73BC57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BEA67-D86F-0224-6139-5F2B60D3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5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EC2D6-344B-96C1-21BE-64C75BE3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37DE-BD0F-7889-D2E0-2B9E5EEFF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1BA75-697A-96EF-5DB9-8A849C657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A34AB-E7EC-A47B-299B-14EEA441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87F49-E8D0-2737-53F7-2ACB00F6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98A71-65D7-4C0B-1AA9-A2D13BEE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6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99A9-FCC6-90AB-3C60-2D8B6155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A51B9-5EAC-4886-C7A2-AF6C21E67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4360F-1567-D280-A3CD-F9C2EB3B7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BF49A-3CCB-C915-8353-08B7E25DC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A787E-F225-D845-D267-B5B45790E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750A6-4BA1-7879-6AC2-D6049BFD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85B24-FB1B-6A90-AEB0-2E42F2E7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43EAF2-04D5-2AC3-853C-DDC2B052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2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8414-322E-ADB4-BF59-E4D0A6BD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7C3BE-716C-E533-CEF7-47853E5F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C5C19-8242-934D-3A53-7AF9D1E5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1A86E-29C6-1BA6-DAE6-DCC68EBC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7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3F5D64-49C0-07D0-443C-613F0500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96FCC4-204D-04E8-C29B-2D101CB2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70FA8-A8FB-EDE9-66B7-F9C65483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6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C2E1-B8D8-F500-D327-0009017B0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3BA8-F08E-B69B-B842-E599988C1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66615-1157-09C0-B90E-EC688C472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A8AD0-E1F4-A5A1-E1C4-558F085B7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1C5D5-AABC-B080-6D0B-D30F4829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E6023-6629-C566-F5CA-368A7DB3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3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1492-5477-B80F-534A-4CAD81E09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3AD0B-38A1-F65A-DCC6-1A981E24E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B2530-34AB-B890-302C-761A4766C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41F1D-34E7-9600-10D4-EDC6EFBF2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44842-5146-81D3-6769-B9D81416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ED1F7-4190-6917-1AD8-DC68CA66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1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A365-5745-C443-E1EA-CD0BEB91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B9C1C-09C1-86DC-40C8-CD71B1D16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6C0F3-89C5-2678-46A5-6680A68B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76E54-7761-DAF0-38E3-174FB07E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7733B-766A-F616-AEA6-F3BC7761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0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9BA25-A6E8-56AB-73E0-BA33AB166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E3145-993B-5470-7C04-A964BA55D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C4620-D54D-5477-3991-A1B4623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E0FEC-B165-68A9-3A52-8A80CE3E7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0155-33C7-CA9B-1655-1047D07D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9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CE943-43CF-F676-B59C-C3F1EEF69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81C24-6C48-ADB2-98BE-9A57B3733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EAF64-E4CB-EB9A-1C7D-7D916D046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0B301-D1AB-4F80-BF96-7286D65415CE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9605-AE74-949F-32EC-F7166ABA9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65FF-FAB3-3D1B-6C2E-74A5D5498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E79FF-8AB8-4215-8791-8B1419C8E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1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34A1B8-9E1E-9A51-ED46-62B159CF251A}"/>
              </a:ext>
            </a:extLst>
          </p:cNvPr>
          <p:cNvSpPr txBox="1"/>
          <p:nvPr/>
        </p:nvSpPr>
        <p:spPr>
          <a:xfrm>
            <a:off x="3009900" y="2612571"/>
            <a:ext cx="6172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Comparison between </a:t>
            </a:r>
            <a:r>
              <a:rPr lang="en-US" sz="3200" b="1" dirty="0" err="1"/>
              <a:t>spaCy</a:t>
            </a:r>
            <a:r>
              <a:rPr lang="en-US" sz="3200" b="1" dirty="0"/>
              <a:t>, </a:t>
            </a:r>
            <a:r>
              <a:rPr lang="en-US" sz="3200" b="1" dirty="0" err="1"/>
              <a:t>ScispaCy</a:t>
            </a:r>
            <a:r>
              <a:rPr lang="en-US" sz="3200" b="1" dirty="0"/>
              <a:t> and </a:t>
            </a:r>
            <a:r>
              <a:rPr lang="en-US" sz="3200" b="1" dirty="0" err="1"/>
              <a:t>medspaCy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B529B-5D32-4D31-E180-904912612186}"/>
              </a:ext>
            </a:extLst>
          </p:cNvPr>
          <p:cNvSpPr txBox="1"/>
          <p:nvPr/>
        </p:nvSpPr>
        <p:spPr>
          <a:xfrm>
            <a:off x="9321282" y="5990253"/>
            <a:ext cx="2500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Luis Vizcaya</a:t>
            </a:r>
          </a:p>
        </p:txBody>
      </p:sp>
    </p:spTree>
    <p:extLst>
      <p:ext uri="{BB962C8B-B14F-4D97-AF65-F5344CB8AC3E}">
        <p14:creationId xmlns:p14="http://schemas.microsoft.com/office/powerpoint/2010/main" val="294904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A77F-94A3-421E-05B6-DCC75624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60BF7-BAA1-5768-599C-8DE7D1991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following document I compare the number of entities recognized by </a:t>
            </a:r>
            <a:r>
              <a:rPr lang="en-US" dirty="0" err="1"/>
              <a:t>spaCy</a:t>
            </a:r>
            <a:r>
              <a:rPr lang="en-US" dirty="0"/>
              <a:t>, </a:t>
            </a:r>
            <a:r>
              <a:rPr lang="en-US" dirty="0" err="1"/>
              <a:t>scispaCy</a:t>
            </a:r>
            <a:r>
              <a:rPr lang="en-US" dirty="0"/>
              <a:t> and </a:t>
            </a:r>
            <a:r>
              <a:rPr lang="en-US" dirty="0" err="1"/>
              <a:t>medspacy</a:t>
            </a:r>
            <a:r>
              <a:rPr lang="en-US" dirty="0"/>
              <a:t> and graph the embeddings for each tool using t-SNE and UMAP.</a:t>
            </a:r>
          </a:p>
        </p:txBody>
      </p:sp>
    </p:spTree>
    <p:extLst>
      <p:ext uri="{BB962C8B-B14F-4D97-AF65-F5344CB8AC3E}">
        <p14:creationId xmlns:p14="http://schemas.microsoft.com/office/powerpoint/2010/main" val="126828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860547-6F67-072C-6B2B-DDEF2E2A9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943753"/>
            <a:ext cx="7543800" cy="3981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1CC0DF-6B06-DD23-38D8-C202D1026A64}"/>
              </a:ext>
            </a:extLst>
          </p:cNvPr>
          <p:cNvSpPr txBox="1"/>
          <p:nvPr/>
        </p:nvSpPr>
        <p:spPr>
          <a:xfrm>
            <a:off x="2286000" y="5393094"/>
            <a:ext cx="7791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 ExtraLight" panose="020F0502020204030204" pitchFamily="34" charset="0"/>
              </a:rPr>
              <a:t>In the graph we can see that </a:t>
            </a:r>
            <a:r>
              <a:rPr lang="en-US" sz="1600" dirty="0" err="1">
                <a:latin typeface="Abadi ExtraLight" panose="020F0502020204030204" pitchFamily="34" charset="0"/>
              </a:rPr>
              <a:t>spaCy</a:t>
            </a:r>
            <a:r>
              <a:rPr lang="en-US" sz="1600" dirty="0">
                <a:latin typeface="Abadi ExtraLight" panose="020F0502020204030204" pitchFamily="34" charset="0"/>
              </a:rPr>
              <a:t> recognize more entities than </a:t>
            </a:r>
            <a:r>
              <a:rPr lang="en-US" sz="1600" dirty="0" err="1">
                <a:latin typeface="Abadi ExtraLight" panose="020F0502020204030204" pitchFamily="34" charset="0"/>
              </a:rPr>
              <a:t>scispaCy</a:t>
            </a:r>
            <a:r>
              <a:rPr lang="en-US" sz="1600" dirty="0">
                <a:latin typeface="Abadi ExtraLight" panose="020F0502020204030204" pitchFamily="34" charset="0"/>
              </a:rPr>
              <a:t> and </a:t>
            </a:r>
            <a:r>
              <a:rPr lang="en-US" sz="1600" dirty="0" err="1">
                <a:latin typeface="Abadi ExtraLight" panose="020F0502020204030204" pitchFamily="34" charset="0"/>
              </a:rPr>
              <a:t>medspaCy</a:t>
            </a:r>
            <a:r>
              <a:rPr lang="en-US" sz="1600" dirty="0">
                <a:latin typeface="Abadi ExtraLight" panose="020F0502020204030204" pitchFamily="34" charset="0"/>
              </a:rPr>
              <a:t> as it is expected as Spacy is a general tool while </a:t>
            </a:r>
            <a:r>
              <a:rPr lang="en-US" sz="1600" dirty="0" err="1">
                <a:latin typeface="Abadi ExtraLight" panose="020F0502020204030204" pitchFamily="34" charset="0"/>
              </a:rPr>
              <a:t>scispaCy</a:t>
            </a:r>
            <a:r>
              <a:rPr lang="en-US" sz="1600" dirty="0">
                <a:latin typeface="Abadi ExtraLight" panose="020F0502020204030204" pitchFamily="34" charset="0"/>
              </a:rPr>
              <a:t> and </a:t>
            </a:r>
            <a:r>
              <a:rPr lang="en-US" sz="1600" dirty="0" err="1">
                <a:latin typeface="Abadi ExtraLight" panose="020F0502020204030204" pitchFamily="34" charset="0"/>
              </a:rPr>
              <a:t>medspaCy</a:t>
            </a:r>
            <a:r>
              <a:rPr lang="en-US" sz="1600" dirty="0">
                <a:latin typeface="Abadi ExtraLight" panose="020F0502020204030204" pitchFamily="34" charset="0"/>
              </a:rPr>
              <a:t> are more specific tools.</a:t>
            </a:r>
          </a:p>
        </p:txBody>
      </p:sp>
    </p:spTree>
    <p:extLst>
      <p:ext uri="{BB962C8B-B14F-4D97-AF65-F5344CB8AC3E}">
        <p14:creationId xmlns:p14="http://schemas.microsoft.com/office/powerpoint/2010/main" val="45503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0521DA-D187-A0C1-3907-09177B376055}"/>
              </a:ext>
            </a:extLst>
          </p:cNvPr>
          <p:cNvSpPr txBox="1"/>
          <p:nvPr/>
        </p:nvSpPr>
        <p:spPr>
          <a:xfrm>
            <a:off x="3009900" y="2612571"/>
            <a:ext cx="617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spaCy</a:t>
            </a:r>
            <a:r>
              <a:rPr lang="en-US" sz="3200" b="1" dirty="0"/>
              <a:t> Case</a:t>
            </a:r>
          </a:p>
        </p:txBody>
      </p:sp>
    </p:spTree>
    <p:extLst>
      <p:ext uri="{BB962C8B-B14F-4D97-AF65-F5344CB8AC3E}">
        <p14:creationId xmlns:p14="http://schemas.microsoft.com/office/powerpoint/2010/main" val="292432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42A528-B5BC-48B8-92DE-9C2B44451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6D3D5-82CF-062F-9D35-FDCD3D84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20" y="856034"/>
            <a:ext cx="8443511" cy="5622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CE06FC-C75A-9EFD-AD64-DC6756914BBC}"/>
              </a:ext>
            </a:extLst>
          </p:cNvPr>
          <p:cNvSpPr txBox="1"/>
          <p:nvPr/>
        </p:nvSpPr>
        <p:spPr>
          <a:xfrm>
            <a:off x="2422187" y="379379"/>
            <a:ext cx="789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Entities Using </a:t>
            </a:r>
            <a:r>
              <a:rPr lang="en-US" b="1" dirty="0" err="1"/>
              <a:t>spaCy</a:t>
            </a:r>
            <a:r>
              <a:rPr lang="en-US" b="1" dirty="0"/>
              <a:t> and t-SNE</a:t>
            </a:r>
          </a:p>
        </p:txBody>
      </p:sp>
    </p:spTree>
    <p:extLst>
      <p:ext uri="{BB962C8B-B14F-4D97-AF65-F5344CB8AC3E}">
        <p14:creationId xmlns:p14="http://schemas.microsoft.com/office/powerpoint/2010/main" val="391517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9D8DE-8CA6-2512-A88A-ACAD8654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B92C498-4546-D5F2-A573-6DB1CF341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EA7BF-0031-20EB-1FF4-F19708A69407}"/>
              </a:ext>
            </a:extLst>
          </p:cNvPr>
          <p:cNvSpPr txBox="1"/>
          <p:nvPr/>
        </p:nvSpPr>
        <p:spPr>
          <a:xfrm>
            <a:off x="2422187" y="379379"/>
            <a:ext cx="789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Entities Using </a:t>
            </a:r>
            <a:r>
              <a:rPr lang="en-US" b="1" dirty="0" err="1"/>
              <a:t>spaCy</a:t>
            </a:r>
            <a:r>
              <a:rPr lang="en-US" b="1" dirty="0"/>
              <a:t> and UMAP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02FF7C-6D11-D1CC-8874-1D4FFAEA0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17" y="857249"/>
            <a:ext cx="8356059" cy="562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21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39ABC-F4EA-E647-C4F8-963C1EF9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9D4D24-B30B-9C5D-F3D6-5E2E590B78CD}"/>
              </a:ext>
            </a:extLst>
          </p:cNvPr>
          <p:cNvSpPr txBox="1"/>
          <p:nvPr/>
        </p:nvSpPr>
        <p:spPr>
          <a:xfrm>
            <a:off x="3009900" y="2612571"/>
            <a:ext cx="617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ScispaCy</a:t>
            </a:r>
            <a:r>
              <a:rPr lang="en-US" sz="3200" b="1" dirty="0"/>
              <a:t> Case</a:t>
            </a:r>
          </a:p>
        </p:txBody>
      </p:sp>
    </p:spTree>
    <p:extLst>
      <p:ext uri="{BB962C8B-B14F-4D97-AF65-F5344CB8AC3E}">
        <p14:creationId xmlns:p14="http://schemas.microsoft.com/office/powerpoint/2010/main" val="18423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7425-8BD1-FE64-2C5B-2643120B9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E14141-0760-7656-6505-174CB8115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34" y="857249"/>
            <a:ext cx="8171233" cy="55435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85A7F5-D78E-64BA-88B9-08DFE1306B92}"/>
              </a:ext>
            </a:extLst>
          </p:cNvPr>
          <p:cNvSpPr txBox="1"/>
          <p:nvPr/>
        </p:nvSpPr>
        <p:spPr>
          <a:xfrm>
            <a:off x="2422187" y="379379"/>
            <a:ext cx="789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Entities Using </a:t>
            </a:r>
            <a:r>
              <a:rPr lang="en-US" b="1" dirty="0" err="1"/>
              <a:t>ScispaCy</a:t>
            </a:r>
            <a:r>
              <a:rPr lang="en-US" b="1" dirty="0"/>
              <a:t> and t-SNE</a:t>
            </a:r>
          </a:p>
        </p:txBody>
      </p:sp>
    </p:spTree>
    <p:extLst>
      <p:ext uri="{BB962C8B-B14F-4D97-AF65-F5344CB8AC3E}">
        <p14:creationId xmlns:p14="http://schemas.microsoft.com/office/powerpoint/2010/main" val="74012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5D751-6439-04BB-25CA-BBFA25A07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891FE0-2DCB-CF48-B52A-839AC9C1ABAF}"/>
              </a:ext>
            </a:extLst>
          </p:cNvPr>
          <p:cNvSpPr txBox="1"/>
          <p:nvPr/>
        </p:nvSpPr>
        <p:spPr>
          <a:xfrm>
            <a:off x="2422187" y="379379"/>
            <a:ext cx="789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Entities Using </a:t>
            </a:r>
            <a:r>
              <a:rPr lang="en-US" b="1" dirty="0" err="1"/>
              <a:t>ScispaCy</a:t>
            </a:r>
            <a:r>
              <a:rPr lang="en-US" b="1" dirty="0"/>
              <a:t> and UMAP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9FB89-DB5C-D83E-6A76-0CDF87DB2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715" y="857249"/>
            <a:ext cx="8268511" cy="562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58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EE010-8B4E-9BF4-96CB-7A87244B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AF179-9620-8CC1-1706-5020014D50CE}"/>
              </a:ext>
            </a:extLst>
          </p:cNvPr>
          <p:cNvSpPr txBox="1"/>
          <p:nvPr/>
        </p:nvSpPr>
        <p:spPr>
          <a:xfrm>
            <a:off x="3009900" y="2612571"/>
            <a:ext cx="617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MedspaCy</a:t>
            </a:r>
            <a:r>
              <a:rPr lang="en-US" sz="3200" b="1" dirty="0"/>
              <a:t> Case</a:t>
            </a:r>
          </a:p>
        </p:txBody>
      </p:sp>
    </p:spTree>
    <p:extLst>
      <p:ext uri="{BB962C8B-B14F-4D97-AF65-F5344CB8AC3E}">
        <p14:creationId xmlns:p14="http://schemas.microsoft.com/office/powerpoint/2010/main" val="1030784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77F3-0DF2-A477-FBB8-F5FEAA77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7AF451-0DC6-CEA8-9A59-7B315F66C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260" y="857250"/>
            <a:ext cx="8356059" cy="54754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917054-AEEA-9776-2F7D-08C225BB3049}"/>
              </a:ext>
            </a:extLst>
          </p:cNvPr>
          <p:cNvSpPr txBox="1"/>
          <p:nvPr/>
        </p:nvSpPr>
        <p:spPr>
          <a:xfrm>
            <a:off x="2422187" y="379379"/>
            <a:ext cx="789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Entities Using </a:t>
            </a:r>
            <a:r>
              <a:rPr lang="en-US" b="1" dirty="0" err="1"/>
              <a:t>medspaCy</a:t>
            </a:r>
            <a:r>
              <a:rPr lang="en-US" b="1" dirty="0"/>
              <a:t> and t-SNE</a:t>
            </a:r>
          </a:p>
        </p:txBody>
      </p:sp>
    </p:spTree>
    <p:extLst>
      <p:ext uri="{BB962C8B-B14F-4D97-AF65-F5344CB8AC3E}">
        <p14:creationId xmlns:p14="http://schemas.microsoft.com/office/powerpoint/2010/main" val="1167712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832E3-7E3C-3165-1811-9579E718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780DD5-0D7F-D2E8-CEC5-415A8C3E504B}"/>
              </a:ext>
            </a:extLst>
          </p:cNvPr>
          <p:cNvSpPr txBox="1"/>
          <p:nvPr/>
        </p:nvSpPr>
        <p:spPr>
          <a:xfrm>
            <a:off x="2422187" y="379379"/>
            <a:ext cx="789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Entities Using </a:t>
            </a:r>
            <a:r>
              <a:rPr lang="en-US" b="1" dirty="0" err="1"/>
              <a:t>medspaCy</a:t>
            </a:r>
            <a:r>
              <a:rPr lang="en-US" b="1" dirty="0"/>
              <a:t> and UMAP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A7880-3632-BA25-8620-1A2C5D43C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57249"/>
            <a:ext cx="8944631" cy="562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109</Words>
  <Application>Microsoft Office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Abadi ExtraLight</vt:lpstr>
      <vt:lpstr>Aptos</vt:lpstr>
      <vt:lpstr>Aptos Display</vt:lpstr>
      <vt:lpstr>Arial</vt:lpstr>
      <vt:lpstr>Office Theme</vt:lpstr>
      <vt:lpstr>PowerPoint Presentation</vt:lpstr>
      <vt:lpstr>Description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Vizcaya, Luis A</dc:creator>
  <cp:lastModifiedBy>Vizcaya, Luis A</cp:lastModifiedBy>
  <cp:revision>8</cp:revision>
  <dcterms:created xsi:type="dcterms:W3CDTF">2026-07-05T12:29:04Z</dcterms:created>
  <dcterms:modified xsi:type="dcterms:W3CDTF">2026-07-05T17:46:51Z</dcterms:modified>
</cp:coreProperties>
</file>