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0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8A32F1-D250-41AD-9868-6AC213B7944B}" v="3" dt="2026-07-21T01:02:36.7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zcaya, Luis" userId="941d56fa-29e3-4736-bcb4-21f7e43fa728" providerId="ADAL" clId="{C653503E-0A25-43B8-BF88-B9F22AE83660}"/>
    <pc:docChg chg="custSel delSld modSld">
      <pc:chgData name="Vizcaya, Luis" userId="941d56fa-29e3-4736-bcb4-21f7e43fa728" providerId="ADAL" clId="{C653503E-0A25-43B8-BF88-B9F22AE83660}" dt="2026-07-21T01:03:56.227" v="32" actId="47"/>
      <pc:docMkLst>
        <pc:docMk/>
      </pc:docMkLst>
      <pc:sldChg chg="addSp delSp modSp mod">
        <pc:chgData name="Vizcaya, Luis" userId="941d56fa-29e3-4736-bcb4-21f7e43fa728" providerId="ADAL" clId="{C653503E-0A25-43B8-BF88-B9F22AE83660}" dt="2026-07-21T01:03:49.336" v="31" actId="14100"/>
        <pc:sldMkLst>
          <pc:docMk/>
          <pc:sldMk cId="0" sldId="267"/>
        </pc:sldMkLst>
        <pc:spChg chg="mod">
          <ac:chgData name="Vizcaya, Luis" userId="941d56fa-29e3-4736-bcb4-21f7e43fa728" providerId="ADAL" clId="{C653503E-0A25-43B8-BF88-B9F22AE83660}" dt="2026-07-21T01:03:22.032" v="28" actId="255"/>
          <ac:spMkLst>
            <pc:docMk/>
            <pc:sldMk cId="0" sldId="267"/>
            <ac:spMk id="3" creationId="{00000000-0000-0000-0000-000000000000}"/>
          </ac:spMkLst>
        </pc:spChg>
        <pc:spChg chg="del mod">
          <ac:chgData name="Vizcaya, Luis" userId="941d56fa-29e3-4736-bcb4-21f7e43fa728" providerId="ADAL" clId="{C653503E-0A25-43B8-BF88-B9F22AE83660}" dt="2026-07-21T01:02:43.869" v="17"/>
          <ac:spMkLst>
            <pc:docMk/>
            <pc:sldMk cId="0" sldId="267"/>
            <ac:spMk id="4" creationId="{00000000-0000-0000-0000-000000000000}"/>
          </ac:spMkLst>
        </pc:spChg>
        <pc:spChg chg="del mod">
          <ac:chgData name="Vizcaya, Luis" userId="941d56fa-29e3-4736-bcb4-21f7e43fa728" providerId="ADAL" clId="{C653503E-0A25-43B8-BF88-B9F22AE83660}" dt="2026-07-21T01:02:43.869" v="19"/>
          <ac:spMkLst>
            <pc:docMk/>
            <pc:sldMk cId="0" sldId="267"/>
            <ac:spMk id="5" creationId="{00000000-0000-0000-0000-000000000000}"/>
          </ac:spMkLst>
        </pc:spChg>
        <pc:spChg chg="del mod">
          <ac:chgData name="Vizcaya, Luis" userId="941d56fa-29e3-4736-bcb4-21f7e43fa728" providerId="ADAL" clId="{C653503E-0A25-43B8-BF88-B9F22AE83660}" dt="2026-07-21T01:02:43.869" v="21"/>
          <ac:spMkLst>
            <pc:docMk/>
            <pc:sldMk cId="0" sldId="267"/>
            <ac:spMk id="6" creationId="{00000000-0000-0000-0000-000000000000}"/>
          </ac:spMkLst>
        </pc:spChg>
        <pc:picChg chg="del mod">
          <ac:chgData name="Vizcaya, Luis" userId="941d56fa-29e3-4736-bcb4-21f7e43fa728" providerId="ADAL" clId="{C653503E-0A25-43B8-BF88-B9F22AE83660}" dt="2026-07-21T01:02:43.869" v="15" actId="478"/>
          <ac:picMkLst>
            <pc:docMk/>
            <pc:sldMk cId="0" sldId="267"/>
            <ac:picMk id="2" creationId="{00000000-0000-0000-0000-000000000000}"/>
          </ac:picMkLst>
        </pc:picChg>
        <pc:picChg chg="del">
          <ac:chgData name="Vizcaya, Luis" userId="941d56fa-29e3-4736-bcb4-21f7e43fa728" providerId="ADAL" clId="{C653503E-0A25-43B8-BF88-B9F22AE83660}" dt="2026-07-21T01:02:12.952" v="0" actId="478"/>
          <ac:picMkLst>
            <pc:docMk/>
            <pc:sldMk cId="0" sldId="267"/>
            <ac:picMk id="7" creationId="{00000000-0000-0000-0000-000000000000}"/>
          </ac:picMkLst>
        </pc:picChg>
        <pc:picChg chg="del">
          <ac:chgData name="Vizcaya, Luis" userId="941d56fa-29e3-4736-bcb4-21f7e43fa728" providerId="ADAL" clId="{C653503E-0A25-43B8-BF88-B9F22AE83660}" dt="2026-07-21T01:02:15.559" v="1" actId="478"/>
          <ac:picMkLst>
            <pc:docMk/>
            <pc:sldMk cId="0" sldId="267"/>
            <ac:picMk id="8" creationId="{00000000-0000-0000-0000-000000000000}"/>
          </ac:picMkLst>
        </pc:picChg>
        <pc:picChg chg="del">
          <ac:chgData name="Vizcaya, Luis" userId="941d56fa-29e3-4736-bcb4-21f7e43fa728" providerId="ADAL" clId="{C653503E-0A25-43B8-BF88-B9F22AE83660}" dt="2026-07-21T01:02:16.361" v="2" actId="478"/>
          <ac:picMkLst>
            <pc:docMk/>
            <pc:sldMk cId="0" sldId="267"/>
            <ac:picMk id="9" creationId="{00000000-0000-0000-0000-000000000000}"/>
          </ac:picMkLst>
        </pc:picChg>
        <pc:picChg chg="del">
          <ac:chgData name="Vizcaya, Luis" userId="941d56fa-29e3-4736-bcb4-21f7e43fa728" providerId="ADAL" clId="{C653503E-0A25-43B8-BF88-B9F22AE83660}" dt="2026-07-21T01:02:16.974" v="3" actId="478"/>
          <ac:picMkLst>
            <pc:docMk/>
            <pc:sldMk cId="0" sldId="267"/>
            <ac:picMk id="10" creationId="{00000000-0000-0000-0000-000000000000}"/>
          </ac:picMkLst>
        </pc:picChg>
        <pc:picChg chg="add mod">
          <ac:chgData name="Vizcaya, Luis" userId="941d56fa-29e3-4736-bcb4-21f7e43fa728" providerId="ADAL" clId="{C653503E-0A25-43B8-BF88-B9F22AE83660}" dt="2026-07-21T01:03:49.336" v="31" actId="14100"/>
          <ac:picMkLst>
            <pc:docMk/>
            <pc:sldMk cId="0" sldId="267"/>
            <ac:picMk id="14" creationId="{98778849-3DD6-BA30-8BFC-70AC4FCA2C89}"/>
          </ac:picMkLst>
        </pc:picChg>
      </pc:sldChg>
      <pc:sldChg chg="del">
        <pc:chgData name="Vizcaya, Luis" userId="941d56fa-29e3-4736-bcb4-21f7e43fa728" providerId="ADAL" clId="{C653503E-0A25-43B8-BF88-B9F22AE83660}" dt="2026-07-21T01:03:56.227" v="32" actId="47"/>
        <pc:sldMkLst>
          <pc:docMk/>
          <pc:sldMk cId="0" sldId="26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45406" y="2506116"/>
            <a:ext cx="9501187" cy="14875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775"/>
              </a:lnSpc>
            </a:pPr>
            <a:r>
              <a:rPr sz="5250" b="1" i="0" u="none" dirty="0">
                <a:solidFill>
                  <a:srgbClr val="0F172A"/>
                </a:solidFill>
                <a:latin typeface="Montserrat"/>
              </a:rPr>
              <a:t>Predicting ICU Mortality</a:t>
            </a:r>
            <a:endParaRPr lang="en-US" sz="5250" b="1" i="0" u="none" dirty="0">
              <a:solidFill>
                <a:srgbClr val="0F172A"/>
              </a:solidFill>
              <a:latin typeface="Montserrat"/>
            </a:endParaRPr>
          </a:p>
          <a:p>
            <a:pPr algn="ctr">
              <a:lnSpc>
                <a:spcPts val="5775"/>
              </a:lnSpc>
            </a:pPr>
            <a:r>
              <a:rPr lang="en-US" sz="5250" b="1" dirty="0">
                <a:solidFill>
                  <a:srgbClr val="0F172A"/>
                </a:solidFill>
                <a:latin typeface="Montserrat"/>
              </a:rPr>
              <a:t>In Women</a:t>
            </a:r>
            <a:endParaRPr sz="5250" b="1" i="0" u="none" dirty="0">
              <a:solidFill>
                <a:srgbClr val="0F172A"/>
              </a:solidFill>
              <a:latin typeface="Montserrat"/>
            </a:endParaRPr>
          </a:p>
        </p:txBody>
      </p:sp>
      <p:pic>
        <p:nvPicPr>
          <p:cNvPr id="1026" name="Picture 2" descr="Female Icon Vector Silhouette Illustration Art Image. Female ...">
            <a:extLst>
              <a:ext uri="{FF2B5EF4-FFF2-40B4-BE49-F238E27FC236}">
                <a16:creationId xmlns:a16="http://schemas.microsoft.com/office/drawing/2014/main" id="{2ACAD3ED-35A2-43C1-1BE0-0160C8D18C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8163" y="3475833"/>
            <a:ext cx="3177597" cy="3209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22719-3401-175B-FD1E-4A9E932B8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4F46EC6-3379-6E55-8A3F-34585706E0BD}"/>
              </a:ext>
            </a:extLst>
          </p:cNvPr>
          <p:cNvSpPr txBox="1"/>
          <p:nvPr/>
        </p:nvSpPr>
        <p:spPr>
          <a:xfrm>
            <a:off x="809624" y="1828800"/>
            <a:ext cx="6794333" cy="92333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 i="0" u="none" dirty="0">
                <a:solidFill>
                  <a:srgbClr val="334155"/>
                </a:solidFill>
                <a:latin typeface="Open Sans"/>
              </a:rPr>
              <a:t>My motivation giving more visibility to wome</a:t>
            </a:r>
            <a:r>
              <a:rPr lang="en-US" sz="2000" b="1" dirty="0">
                <a:solidFill>
                  <a:srgbClr val="334155"/>
                </a:solidFill>
                <a:latin typeface="Open Sans"/>
              </a:rPr>
              <a:t>n rights by </a:t>
            </a:r>
            <a:r>
              <a:rPr lang="en-US" sz="2000" b="1" i="0" u="none" dirty="0">
                <a:solidFill>
                  <a:srgbClr val="334155"/>
                </a:solidFill>
                <a:latin typeface="Open Sans"/>
              </a:rPr>
              <a:t>explor</a:t>
            </a:r>
            <a:r>
              <a:rPr lang="en-US" sz="2000" b="1" dirty="0">
                <a:solidFill>
                  <a:srgbClr val="334155"/>
                </a:solidFill>
                <a:latin typeface="Open Sans"/>
              </a:rPr>
              <a:t>ing</a:t>
            </a:r>
            <a:r>
              <a:rPr lang="en-US" sz="2000" b="1" i="0" u="none" dirty="0">
                <a:solidFill>
                  <a:srgbClr val="334155"/>
                </a:solidFill>
                <a:latin typeface="Open Sans"/>
              </a:rPr>
              <a:t> the main reasons of in-hospital mortality.</a:t>
            </a:r>
            <a:endParaRPr sz="2000" b="0" i="0" u="none" dirty="0">
              <a:solidFill>
                <a:srgbClr val="334155"/>
              </a:solidFill>
              <a:latin typeface="Open San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A5306D-1C76-562C-8897-B99866545FD2}"/>
              </a:ext>
            </a:extLst>
          </p:cNvPr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000" b="1" i="0" u="none" dirty="0">
                <a:solidFill>
                  <a:srgbClr val="0F172A"/>
                </a:solidFill>
                <a:latin typeface="Montserrat"/>
              </a:rPr>
              <a:t>Motivation</a:t>
            </a:r>
            <a:endParaRPr sz="3000" b="1" i="0" u="none" dirty="0">
              <a:solidFill>
                <a:srgbClr val="0F172A"/>
              </a:solidFill>
              <a:latin typeface="Montserrat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46D0BC-EF66-E547-60A4-30204A936698}"/>
              </a:ext>
            </a:extLst>
          </p:cNvPr>
          <p:cNvSpPr/>
          <p:nvPr/>
        </p:nvSpPr>
        <p:spPr>
          <a:xfrm>
            <a:off x="571500" y="1181100"/>
            <a:ext cx="11049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52" name="Picture 4" descr="Black Woman Icon Vector Art, Icons, and Graphics for Free Download">
            <a:extLst>
              <a:ext uri="{FF2B5EF4-FFF2-40B4-BE49-F238E27FC236}">
                <a16:creationId xmlns:a16="http://schemas.microsoft.com/office/drawing/2014/main" id="{EFD89F12-BAFD-949D-E06E-66A60BF8C5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9576" y="2752130"/>
            <a:ext cx="2305050" cy="333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36374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25528" y="3117502"/>
            <a:ext cx="7540942" cy="695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500" b="1" i="0" u="none">
                <a:solidFill>
                  <a:srgbClr val="0F172A"/>
                </a:solidFill>
                <a:latin typeface="Montserrat"/>
              </a:rPr>
              <a:t>Phase 1: Data Extraction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71525" y="1810539"/>
            <a:ext cx="5048250" cy="280461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 dirty="0">
                <a:solidFill>
                  <a:srgbClr val="334155"/>
                </a:solidFill>
                <a:latin typeface="Open Sans"/>
              </a:rPr>
              <a:t>Target Dataset:</a:t>
            </a:r>
            <a:r>
              <a:rPr sz="1500" b="0" i="0" u="none" dirty="0">
                <a:solidFill>
                  <a:srgbClr val="334155"/>
                </a:solidFill>
                <a:latin typeface="Open Sans"/>
              </a:rPr>
              <a:t> </a:t>
            </a:r>
            <a:r>
              <a:rPr sz="1500" b="0" i="0" u="none" dirty="0" err="1">
                <a:solidFill>
                  <a:srgbClr val="334155"/>
                </a:solidFill>
                <a:latin typeface="Open Sans"/>
              </a:rPr>
              <a:t>physionet-data.mimiciii_clinical</a:t>
            </a:r>
            <a:r>
              <a:rPr lang="en-US" sz="1500" dirty="0">
                <a:solidFill>
                  <a:srgbClr val="334155"/>
                </a:solidFill>
                <a:latin typeface="Open Sans"/>
              </a:rPr>
              <a:t>.</a:t>
            </a:r>
            <a:endParaRPr sz="1500" b="0" i="0" u="none" dirty="0">
              <a:solidFill>
                <a:srgbClr val="334155"/>
              </a:solidFill>
              <a:latin typeface="Open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71525" y="2390775"/>
            <a:ext cx="5048250" cy="91440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 dirty="0">
                <a:solidFill>
                  <a:srgbClr val="334155"/>
                </a:solidFill>
                <a:latin typeface="Open Sans"/>
              </a:rPr>
              <a:t>Cohort Filtering:</a:t>
            </a:r>
            <a:r>
              <a:rPr sz="1500" b="0" i="0" u="none" dirty="0">
                <a:solidFill>
                  <a:srgbClr val="334155"/>
                </a:solidFill>
                <a:latin typeface="Open Sans"/>
              </a:rPr>
              <a:t> The scope was narrowed to female patients with recorded ICU stays to build a highly targeted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625" y="3529012"/>
            <a:ext cx="5048250" cy="91440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 dirty="0">
                <a:solidFill>
                  <a:srgbClr val="334155"/>
                </a:solidFill>
                <a:latin typeface="Open Sans"/>
              </a:rPr>
              <a:t>Joined Entities:</a:t>
            </a:r>
            <a:r>
              <a:rPr sz="1500" b="0" i="0" u="none" dirty="0">
                <a:solidFill>
                  <a:srgbClr val="334155"/>
                </a:solidFill>
                <a:latin typeface="Open Sans"/>
              </a:rPr>
              <a:t> We merged data across patients, admissions, ICU stays, chart events (vitals), and diagnoses.</a:t>
            </a:r>
            <a:r>
              <a:rPr lang="en-US" sz="1500" b="0" i="0" u="none" dirty="0">
                <a:solidFill>
                  <a:srgbClr val="334155"/>
                </a:solidFill>
                <a:latin typeface="Open Sans"/>
              </a:rPr>
              <a:t> (query attached)</a:t>
            </a:r>
            <a:endParaRPr sz="1500" b="0" i="0" u="none" dirty="0">
              <a:solidFill>
                <a:srgbClr val="334155"/>
              </a:solidFill>
              <a:latin typeface="Open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9624" y="4742071"/>
            <a:ext cx="5048250" cy="91440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334155"/>
                </a:solidFill>
                <a:latin typeface="Open Sans"/>
              </a:rPr>
              <a:t>Extraction Method:</a:t>
            </a:r>
            <a:r>
              <a:rPr sz="1500" b="0" i="0" u="none">
                <a:solidFill>
                  <a:srgbClr val="334155"/>
                </a:solidFill>
                <a:latin typeface="Open Sans"/>
              </a:rPr>
              <a:t> Heavy reliance on BigQuery to compute aggregations like num_icu_stays and average vitals in-database.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Montserrat"/>
              </a:rPr>
              <a:t>Data Sourcing Strategy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1500" y="1181100"/>
            <a:ext cx="11049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76CA7F9-1C4F-F43B-6490-08A25DA86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4127" y="1219200"/>
            <a:ext cx="5707767" cy="55340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635442" y="3117502"/>
            <a:ext cx="8921115" cy="695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500" b="1" i="0" u="none" dirty="0">
                <a:solidFill>
                  <a:srgbClr val="0F172A"/>
                </a:solidFill>
                <a:latin typeface="Montserrat"/>
              </a:rPr>
              <a:t>Phase 2: Data Preprocessing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76462"/>
            <a:ext cx="3429000" cy="35337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500" y="2176462"/>
            <a:ext cx="3429000" cy="35337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2176462"/>
            <a:ext cx="3429000" cy="35337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90875" y="3281362"/>
            <a:ext cx="1990248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0" i="0" u="none">
                <a:solidFill>
                  <a:srgbClr val="0284C7"/>
                </a:solidFill>
                <a:latin typeface="Montserrat SemiBold"/>
              </a:rPr>
              <a:t>Null Handling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775" y="3748087"/>
            <a:ext cx="2838450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Open Sans"/>
              </a:rPr>
              <a:t>Calculated null percentages for all variables. Dropped columns exceeding 20% missing values (e.g., avg_sys_bp, avg_dias_bp, avg_temp).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35830" y="3281362"/>
            <a:ext cx="272034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0" i="0" u="none">
                <a:solidFill>
                  <a:srgbClr val="0284C7"/>
                </a:solidFill>
                <a:latin typeface="Montserrat SemiBold"/>
              </a:rPr>
              <a:t>Calculated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6775" y="3748087"/>
            <a:ext cx="2838450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Open Sans"/>
              </a:rPr>
              <a:t>Engineered critical time-based metrics. Computed 'length_of_stay' (days) and 'age_at_admission' (years) using admission and discharge dates.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5858" y="3281362"/>
            <a:ext cx="2260282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0" i="0" u="none">
                <a:solidFill>
                  <a:srgbClr val="0284C7"/>
                </a:solidFill>
                <a:latin typeface="Montserrat SemiBold"/>
              </a:rPr>
              <a:t>ICD-9 Grouping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86775" y="3748087"/>
            <a:ext cx="2838450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Open Sans"/>
              </a:rPr>
              <a:t>Simplified complex ICD-9 diagnosis codes into 18 broader medical categories (e.g., infectious, neoplasms, respiratory, cardiovascular).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28825" y="2557462"/>
            <a:ext cx="514350" cy="4572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5975" y="2557462"/>
            <a:ext cx="400050" cy="4572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8825" y="2557462"/>
            <a:ext cx="51435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Montserrat"/>
              </a:rPr>
              <a:t>Preprocessing &amp; Feature Engineering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1181100"/>
            <a:ext cx="11049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486025"/>
            <a:ext cx="5286375" cy="29146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4125" y="2486025"/>
            <a:ext cx="5286375" cy="29146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2025" y="2876550"/>
            <a:ext cx="4730591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0" i="0" u="none">
                <a:solidFill>
                  <a:srgbClr val="0284C7"/>
                </a:solidFill>
                <a:latin typeface="Montserrat SemiBold"/>
              </a:rPr>
              <a:t>Religion Normalization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025" y="3343275"/>
            <a:ext cx="4505325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Open Sans"/>
              </a:rPr>
              <a:t>The dataset contained multiple fragmented religious affiliations. We utilized RegEx patterns to group these responses into a binary 'RELIGIOUS' vs. 'NOT RELIGIOUS' flag, enhancing the model's ability to process the feature.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4650" y="2876550"/>
            <a:ext cx="4730591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0" i="0" u="none">
                <a:solidFill>
                  <a:srgbClr val="0284C7"/>
                </a:solidFill>
                <a:latin typeface="Montserrat SemiBold"/>
              </a:rPr>
              <a:t>Ethnicity Compression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4650" y="3343275"/>
            <a:ext cx="4505325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Open Sans"/>
              </a:rPr>
              <a:t>To prevent extreme high-cardinality in categorical features, we condensed the ethnicity data down to the top 5 most frequent groups (WHITE, ASIAN, BLACK, HISPANIC) and lumped the remainder into 'OTHER/UNKNOWN'.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Montserrat"/>
              </a:rPr>
              <a:t>Categorical Normalization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" y="1181100"/>
            <a:ext cx="11049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65533" y="3117502"/>
            <a:ext cx="7460932" cy="695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500" b="1" i="0" u="none">
                <a:solidFill>
                  <a:srgbClr val="0F172A"/>
                </a:solidFill>
                <a:latin typeface="Montserrat"/>
              </a:rPr>
              <a:t>Phase 3: Model Training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71500" y="1585019"/>
          <a:ext cx="11048998" cy="4716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3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0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250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43332"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FFFFFF"/>
                          </a:solidFill>
                          <a:latin typeface="Montserrat"/>
                        </a:rPr>
                        <a:t>Step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FFFFFF"/>
                          </a:solidFill>
                          <a:latin typeface="Montserrat"/>
                        </a:rPr>
                        <a:t>Methodology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FFFFFF"/>
                          </a:solidFill>
                          <a:latin typeface="Montserrat"/>
                        </a:rPr>
                        <a:t>Outcome / Purpose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84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3332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Open Sans"/>
                        </a:rPr>
                        <a:t>Data Splitting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Open Sans"/>
                        </a:rPr>
                        <a:t>Train/Test Split (80/20)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Open Sans"/>
                        </a:rPr>
                        <a:t>8,000 samples for training, 2,000 samples for out-of-sample testing.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3332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Open Sans"/>
                        </a:rPr>
                        <a:t>Null Imputation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Open Sans"/>
                        </a:rPr>
                        <a:t>Median Imputation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Open Sans"/>
                        </a:rPr>
                        <a:t>Replaced minor nulls in heart rate and respiratory rate with the median.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43332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Open Sans"/>
                        </a:rPr>
                        <a:t>Categorical Encoding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Open Sans"/>
                        </a:rPr>
                        <a:t>One-Hot Encoding (Dummies)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Open Sans"/>
                        </a:rPr>
                        <a:t>Converted categories (insurance, admission_type, etc.) into binary vectors.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43332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Open Sans"/>
                        </a:rPr>
                        <a:t>Feature Scaling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Open Sans"/>
                        </a:rPr>
                        <a:t>StandardScaler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Open Sans"/>
                        </a:rPr>
                        <a:t>Standardized numeric features to mean=0, variance=1 for stable model convergence.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71500" y="2296417"/>
            <a:ext cx="20636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635150" y="2296417"/>
            <a:ext cx="276031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95466" y="2296417"/>
            <a:ext cx="622503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71500" y="3296542"/>
            <a:ext cx="20636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635150" y="3296542"/>
            <a:ext cx="276031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395466" y="3296542"/>
            <a:ext cx="622503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71500" y="4296667"/>
            <a:ext cx="20636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635150" y="4296667"/>
            <a:ext cx="276031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395466" y="4296667"/>
            <a:ext cx="622503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71500" y="5296792"/>
            <a:ext cx="20636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635150" y="5296792"/>
            <a:ext cx="276031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395466" y="5296792"/>
            <a:ext cx="622503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1500" y="556319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Montserrat"/>
              </a:rPr>
              <a:t>Data Splitting &amp; Scaling Preparation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1165919"/>
            <a:ext cx="11049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862137"/>
            <a:ext cx="3429000" cy="21431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500" y="1862137"/>
            <a:ext cx="3429000" cy="21431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1500" y="1862137"/>
            <a:ext cx="3429000" cy="21431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4195762"/>
            <a:ext cx="360045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0" i="0" u="none">
                <a:solidFill>
                  <a:srgbClr val="0284C7"/>
                </a:solidFill>
                <a:latin typeface="Montserrat SemiBold"/>
              </a:rPr>
              <a:t>Logistic Regression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775" y="4195762"/>
            <a:ext cx="360045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0" i="0" u="none">
                <a:solidFill>
                  <a:srgbClr val="0284C7"/>
                </a:solidFill>
                <a:latin typeface="Montserrat SemiBold"/>
              </a:rPr>
              <a:t>LightGBM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5775" y="4195762"/>
            <a:ext cx="360045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0" i="0" u="none">
                <a:solidFill>
                  <a:srgbClr val="0284C7"/>
                </a:solidFill>
                <a:latin typeface="Montserrat SemiBold"/>
              </a:rPr>
              <a:t>Random Forest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25" y="1871662"/>
            <a:ext cx="3409950" cy="212407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1025" y="1871662"/>
            <a:ext cx="3409950" cy="212407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1025" y="1871662"/>
            <a:ext cx="3409950" cy="212407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Montserrat"/>
              </a:rPr>
              <a:t>Algorithm Selection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1181100"/>
            <a:ext cx="11049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3048000"/>
            <a:ext cx="5286375" cy="142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250"/>
              </a:lnSpc>
            </a:pPr>
            <a:r>
              <a:rPr sz="11250" b="1" i="0" u="none">
                <a:solidFill>
                  <a:srgbClr val="0284C7"/>
                </a:solidFill>
                <a:latin typeface="Montserrat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4476750"/>
            <a:ext cx="528637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0" i="0" u="none">
                <a:solidFill>
                  <a:srgbClr val="0F172A"/>
                </a:solidFill>
                <a:latin typeface="Open Sans SemiBold"/>
              </a:rPr>
              <a:t>Optuna Trials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34125" y="2500312"/>
            <a:ext cx="5550693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0" i="0" u="none">
                <a:solidFill>
                  <a:srgbClr val="0284C7"/>
                </a:solidFill>
                <a:latin typeface="Montserrat SemiBold"/>
              </a:rPr>
              <a:t>Automated 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4125" y="2967037"/>
            <a:ext cx="5286375" cy="1219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Open Sans"/>
              </a:rPr>
              <a:t>We utilized </a:t>
            </a:r>
            <a:r>
              <a:rPr sz="1500" b="1" i="0" u="none">
                <a:solidFill>
                  <a:srgbClr val="334155"/>
                </a:solidFill>
                <a:latin typeface="Open Sans"/>
              </a:rPr>
              <a:t>Optuna</a:t>
            </a:r>
            <a:r>
              <a:rPr sz="1500" b="0" i="0" u="none">
                <a:solidFill>
                  <a:srgbClr val="334155"/>
                </a:solidFill>
                <a:latin typeface="Open Sans"/>
              </a:rPr>
              <a:t> to navigate the complex hyperparameter search space automatically. By running 30 distinct trials using 5-fold cross-validation, the framework iteratively maximized our target metric: the F1-Score.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4125" y="4329112"/>
            <a:ext cx="528637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Open Sans"/>
              </a:rPr>
              <a:t>For LightGBM, this process aggressively optimized parameters like learning_rate, num_leaves, and feature_fraction.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 dirty="0">
                <a:solidFill>
                  <a:srgbClr val="0F172A"/>
                </a:solidFill>
                <a:latin typeface="Montserrat"/>
              </a:rPr>
              <a:t>Hyperparameter Tuning </a:t>
            </a:r>
            <a:r>
              <a:rPr lang="en-US" sz="3000" b="1" i="0" u="none" dirty="0">
                <a:solidFill>
                  <a:srgbClr val="0F172A"/>
                </a:solidFill>
                <a:latin typeface="Montserrat"/>
              </a:rPr>
              <a:t>Model</a:t>
            </a:r>
            <a:endParaRPr sz="3000" b="1" i="0" u="none" dirty="0">
              <a:solidFill>
                <a:srgbClr val="0F172A"/>
              </a:solidFill>
              <a:latin typeface="Montserrat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71500" y="1181100"/>
            <a:ext cx="11049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600200"/>
            <a:ext cx="11049000" cy="46863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3950" y="5148262"/>
            <a:ext cx="99441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1" u="none">
                <a:solidFill>
                  <a:srgbClr val="334155"/>
                </a:solidFill>
                <a:latin typeface="Open Sans"/>
              </a:rPr>
              <a:t>Following Optuna hyperparameter optimization, the tree-based ensemble models (LightGBM and Random Forest) significantly outperformed linear approaches, successfully managing the imbalanced nature of patient mortality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Montserrat"/>
              </a:rPr>
              <a:t>Optimized Model F1 Scores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1181100"/>
            <a:ext cx="11049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8170" y="1680830"/>
            <a:ext cx="4069842" cy="4586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400" b="1" i="0" u="none" dirty="0">
                <a:solidFill>
                  <a:srgbClr val="0F172A"/>
                </a:solidFill>
                <a:latin typeface="Open Sans"/>
              </a:rPr>
              <a:t>Length of Stay:</a:t>
            </a:r>
            <a:r>
              <a:rPr sz="1400" b="0" i="0" u="none" dirty="0">
                <a:solidFill>
                  <a:srgbClr val="334155"/>
                </a:solidFill>
                <a:latin typeface="Open Sans"/>
              </a:rPr>
              <a:t> Proved to be the most critical feature driving predictive accuracy across all tuned models.</a:t>
            </a:r>
            <a:endParaRPr lang="en-US" sz="1400" b="0" i="0" u="none" dirty="0">
              <a:solidFill>
                <a:srgbClr val="334155"/>
              </a:solidFill>
              <a:latin typeface="Open Sans"/>
            </a:endParaRPr>
          </a:p>
          <a:p>
            <a:pPr>
              <a:lnSpc>
                <a:spcPts val="2400"/>
              </a:lnSpc>
            </a:pPr>
            <a:r>
              <a:rPr lang="en-US" sz="1400" b="1" dirty="0">
                <a:solidFill>
                  <a:srgbClr val="0F172A"/>
                </a:solidFill>
                <a:latin typeface="Open Sans"/>
              </a:rPr>
              <a:t>Average Heart Rate:</a:t>
            </a:r>
            <a:r>
              <a:rPr lang="en-US" sz="1400" dirty="0">
                <a:solidFill>
                  <a:srgbClr val="334155"/>
                </a:solidFill>
                <a:latin typeface="Open Sans"/>
              </a:rPr>
              <a:t> Vital signs recorded via chart events represented a strong indicator of patient decline.</a:t>
            </a:r>
          </a:p>
          <a:p>
            <a:pPr>
              <a:lnSpc>
                <a:spcPts val="2400"/>
              </a:lnSpc>
            </a:pPr>
            <a:r>
              <a:rPr lang="en-US" sz="1400" b="1" dirty="0">
                <a:solidFill>
                  <a:srgbClr val="0F172A"/>
                </a:solidFill>
                <a:latin typeface="Open Sans"/>
              </a:rPr>
              <a:t>Age at Admission:</a:t>
            </a:r>
            <a:r>
              <a:rPr lang="en-US" sz="1400" dirty="0">
                <a:solidFill>
                  <a:srgbClr val="334155"/>
                </a:solidFill>
                <a:latin typeface="Open Sans"/>
              </a:rPr>
              <a:t> Older age brackets naturally correlated with higher risks of mortality.</a:t>
            </a:r>
          </a:p>
          <a:p>
            <a:pPr>
              <a:lnSpc>
                <a:spcPts val="2400"/>
              </a:lnSpc>
            </a:pPr>
            <a:r>
              <a:rPr lang="en-US" sz="1400" b="1" dirty="0">
                <a:solidFill>
                  <a:srgbClr val="0F172A"/>
                </a:solidFill>
                <a:latin typeface="Open Sans"/>
              </a:rPr>
              <a:t>Specific Diagnoses:</a:t>
            </a:r>
            <a:r>
              <a:rPr lang="en-US" sz="1400" dirty="0">
                <a:solidFill>
                  <a:srgbClr val="334155"/>
                </a:solidFill>
                <a:latin typeface="Open Sans"/>
              </a:rPr>
              <a:t> Recoded ICD-9 categories, particularly 'Respiratory' and 'Pregnancy' related issues, consistently ranked in the top 5 most important features.</a:t>
            </a:r>
          </a:p>
          <a:p>
            <a:pPr>
              <a:lnSpc>
                <a:spcPts val="2400"/>
              </a:lnSpc>
            </a:pPr>
            <a:endParaRPr lang="en-US" sz="1400" dirty="0">
              <a:solidFill>
                <a:srgbClr val="334155"/>
              </a:solidFill>
              <a:latin typeface="Open Sans"/>
            </a:endParaRPr>
          </a:p>
          <a:p>
            <a:pPr>
              <a:lnSpc>
                <a:spcPts val="2400"/>
              </a:lnSpc>
            </a:pPr>
            <a:endParaRPr lang="en-US" sz="1400" dirty="0">
              <a:solidFill>
                <a:srgbClr val="334155"/>
              </a:solidFill>
              <a:latin typeface="Open Sans"/>
            </a:endParaRPr>
          </a:p>
          <a:p>
            <a:pPr algn="l">
              <a:lnSpc>
                <a:spcPts val="2400"/>
              </a:lnSpc>
            </a:pPr>
            <a:endParaRPr sz="1400" b="0" i="0" u="none" dirty="0">
              <a:solidFill>
                <a:srgbClr val="334155"/>
              </a:solidFill>
              <a:latin typeface="Open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 dirty="0">
                <a:solidFill>
                  <a:srgbClr val="0F172A"/>
                </a:solidFill>
                <a:latin typeface="Montserrat"/>
              </a:rPr>
              <a:t>Key Predictors: Permutation Importance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1181100"/>
            <a:ext cx="11049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8778849-3DD6-BA30-8BFC-70AC4FCA2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680830"/>
            <a:ext cx="7429500" cy="43784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95437" y="2342257"/>
            <a:ext cx="9001125" cy="695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500" b="1" i="0" u="none">
                <a:solidFill>
                  <a:srgbClr val="0F172A"/>
                </a:solidFill>
                <a:latin typeface="Montserrat"/>
              </a:rPr>
              <a:t>Conclusion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09750" y="3228082"/>
            <a:ext cx="8572500" cy="10970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1800" b="0" i="0" u="none">
                <a:solidFill>
                  <a:srgbClr val="0F172A"/>
                </a:solidFill>
                <a:latin typeface="Open Sans"/>
              </a:rPr>
              <a:t>By standardizing data extraction, aggressively engineering clinical features, and utilizing automated hyperparameter tuning (Optuna), we successfully elevated our predictive F1-score from 0.13 to 0.47 on highly imbalanced critical care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611</Words>
  <Application>Microsoft Office PowerPoint</Application>
  <PresentationFormat>Widescreen</PresentationFormat>
  <Paragraphs>60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Montserrat</vt:lpstr>
      <vt:lpstr>Montserrat SemiBold</vt:lpstr>
      <vt:lpstr>Open Sans</vt:lpstr>
      <vt:lpstr>Open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Vizcaya, Luis</dc:creator>
  <cp:keywords/>
  <dc:description>generated using python-pptx</dc:description>
  <cp:lastModifiedBy>Vizcaya, Luis</cp:lastModifiedBy>
  <cp:revision>3</cp:revision>
  <dcterms:created xsi:type="dcterms:W3CDTF">2013-01-27T09:14:16Z</dcterms:created>
  <dcterms:modified xsi:type="dcterms:W3CDTF">2026-07-21T01:04:00Z</dcterms:modified>
  <cp:category/>
</cp:coreProperties>
</file>